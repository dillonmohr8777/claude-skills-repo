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decision: this is a controlled growth system, not a publish-everything content dump.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Re-anchor the room in the signed scope before discussing the additional work.
[Sources]
Original BigOrange proposal and working packet.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no-charge language exactly as a statement of investment, not as an unlimited ongoing scope.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governance boundary explicit. Current public hub remains unchanged.
[Sources]
September 1, 2026 public crawl and WordPress inventory.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leverage fixes because they affect interpretation, discovery, rendering or distribution.
[Sources]
September 1, 2026 public crawl.
August 20, 2026 builder hub mobile performance sample.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language disciplined: sample, then remeasure.
[Sources]
August 20, 2026 builder hub mobile performance sample.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Moz is a dated snapshot, not a live ranking guarantee.
[Sources]
Moz snapshot dated August 14,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universal release contract. The wording and proof pattern still vary by template.
[Sources]
Google Search Central: creating helpful, reliable, people-first content.
Google Search Central: Article structured data.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service page remains the commercial destination while articles answer narrower questions.
[Sources]
BigOrange authority package inventory and internal-link map.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are complete standalone articles, not sections of one article.
[Sources]
Five-blog package manifest dated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Visible usefulness comes first. Schema supports interpretation; it does not manufacture authority.
[Sources]
Google Search Central: creating helpful, reliable, people-first content.
Google Search Central: Article structured data.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private WordPress staging gate. Emphasize reversible drafts and explicit approval.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equate a rank or a view with revenue. Preserve the chain.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cadence is deliberately controlled so the team can learn and protect existing rankings.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assigning owners and the first release dates. Keep Phase 2 as a separate commercial decision.
[Sources]
Internal BigOrange working package; September 2, 2026.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3455" cy="32918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3291840"/>
            <a:ext cx="594360" cy="5943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4" name="Image 0" descr="assets/bigorang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62306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874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WordPress growth, made operational.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69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370 URL technical plan, a 24 asset authority system, five new builder blogs, and the release controls that turn content into qualified demand.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September 3,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806440"/>
            <a:ext cx="3776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REVIEW DRAFT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ORIGINAL AGREEMENT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paid pilot actually asked for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429000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2834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1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hours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1148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Discovery, audit, keyword and content strategy, architecture, priorities and implementation planning.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160520" y="2514600"/>
            <a:ext cx="3429000" cy="338328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80560" y="2834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MILESTONE 2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4480560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hours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41148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pillar page, two supporting articles, technical SEO and WordPress implementation support.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772400" y="2514600"/>
            <a:ext cx="3429000" cy="33832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92440" y="283464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 FRAME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315468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$1,050 total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8092440" y="411480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hours at $30 per hour. Phase 2 social, downloadable and webinar production remained a future scope, not part of the paid pilot.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EXPANDED INVESTMENT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now ready for review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authority assets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new blogs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authority assets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6,093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blog words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NO-CHARGE PROOF OF COMMITMENT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More than the paid pilot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new blogs, deeper page-level optimization framework, six branded PDFs, implementation packaging and this leadership deck are included as additional proof of how invested I am in BigOrange and the work you deliver for clients.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release, imagery and factual claims still require BigOrange approval.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5720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Additional work, delivered at no charge, on top of the signed 35 hour pilot.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system: crawlability, answers, proof and conversion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URLs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299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71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349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 in sitemap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PRIVATE REVIEW BOUNDARY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Nothing new is public yet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blogs and collateral are staged for private review. Existing public content stays untouched until a named owner approves facts, images, metadata, links, schema and release timing.</a:t>
            </a:r>
            <a:endParaRPr lang="en-US" sz="12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43000" y="4681728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public builder hub remains unchanged.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BASELINE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site health is leaking authority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8288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priorities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priorities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36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missing from sitemap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8288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36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7033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nofollow pages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3520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HIGHEST-IMPACT FIXES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signals before scaling content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homepage “Stategic” typo across meta, Open Graph and schema. Reduce the AI services page from four H1s to one. Review nofollow page by page. Repair sitemap eligibility. Re-test the builder hub mobile critical path after media and script work.</a:t>
            </a:r>
            <a:endParaRPr lang="en-US" sz="1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143000" y="468172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These affect interpretation, discovery, rendering or distribution.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TECHNICAL PRIORITY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builder hub has a performance problem, not a cosmetic one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291840" cy="301752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9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754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performance sample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69080" y="2514600"/>
            <a:ext cx="3291840" cy="301752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97680" y="269748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spc="-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~36s</a:t>
            </a:r>
            <a:endParaRPr lang="en-US" sz="80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4754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8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largest contentful paint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5603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818120" y="324612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Re-measure after image sizing, format, preload, font, third-party script and critical CSS work. A single sample is a diagnostic baseline, not a permanent score.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KEYWORD TRUTH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Protect what ranks. Build where the gaps are real.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463040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171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tracked keywords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121408" y="2514600"/>
            <a:ext cx="1463040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350008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2350008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1–3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94176" y="2514600"/>
            <a:ext cx="1463040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22776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3400" dirty="0"/>
          </a:p>
        </p:txBody>
      </p:sp>
      <p:sp>
        <p:nvSpPr>
          <p:cNvPr id="16" name="Text 13"/>
          <p:cNvSpPr txBox="1"/>
          <p:nvPr/>
        </p:nvSpPr>
        <p:spPr>
          <a:xfrm>
            <a:off x="3922776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4–10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266944" y="2514600"/>
            <a:ext cx="1463040" cy="16916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95544" y="271576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93</a:t>
            </a:r>
            <a:endParaRPr lang="en-US" sz="3400" dirty="0"/>
          </a:p>
        </p:txBody>
      </p:sp>
      <p:sp>
        <p:nvSpPr>
          <p:cNvPr id="19" name="Text 16"/>
          <p:cNvSpPr txBox="1"/>
          <p:nvPr/>
        </p:nvSpPr>
        <p:spPr>
          <a:xfrm>
            <a:off x="5495544" y="3566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unranked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949440" y="2514600"/>
            <a:ext cx="4690872" cy="16916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223760" y="277063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BUILDER LANE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7223760" y="3017520"/>
            <a:ext cx="4142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of 21 terms rank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3520440"/>
            <a:ext cx="4142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Thirteen builder terms are already in positions 1–3, all pointing to the builder hub. That page remains the commercial owner.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4389120"/>
            <a:ext cx="11091672" cy="16916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4645152"/>
            <a:ext cx="1054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OPPORTUNITY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48920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exact gaps + one page-two term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" y="539496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for builders, home builder marketing solutions, home builder marketing automation, marketing ideas for homebuilders, and custom home builder marketing agency.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INDEXABLE PAGE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page contract: ten layers, one accountable owner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family + job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8892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9008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99008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99008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H1 + direct answer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23036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523036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23036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+ approved evidence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6948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7064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747064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Metadata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47064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canonical + robots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9509760" y="246888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710928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3"/>
          <p:cNvSpPr txBox="1"/>
          <p:nvPr/>
        </p:nvSpPr>
        <p:spPr>
          <a:xfrm>
            <a:off x="9710928" y="318211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AEO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710928" y="3493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 + concise answers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4980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400" dirty="0"/>
          </a:p>
        </p:txBody>
      </p:sp>
      <p:sp>
        <p:nvSpPr>
          <p:cNvPr id="30" name="Text 27"/>
          <p:cNvSpPr txBox="1"/>
          <p:nvPr/>
        </p:nvSpPr>
        <p:spPr>
          <a:xfrm>
            <a:off x="74980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GEO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4980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entities + sources + context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8892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9008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400" dirty="0"/>
          </a:p>
        </p:txBody>
      </p:sp>
      <p:sp>
        <p:nvSpPr>
          <p:cNvPr id="34" name="Text 31"/>
          <p:cNvSpPr txBox="1"/>
          <p:nvPr/>
        </p:nvSpPr>
        <p:spPr>
          <a:xfrm>
            <a:off x="299008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Schema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299008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content supports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502920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23036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2400" dirty="0"/>
          </a:p>
        </p:txBody>
      </p:sp>
      <p:sp>
        <p:nvSpPr>
          <p:cNvPr id="38" name="Text 35"/>
          <p:cNvSpPr txBox="1"/>
          <p:nvPr/>
        </p:nvSpPr>
        <p:spPr>
          <a:xfrm>
            <a:off x="523036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523036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+ alt + permissions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7269480" y="4251960"/>
            <a:ext cx="2103120" cy="16002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7064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2400" dirty="0"/>
          </a:p>
        </p:txBody>
      </p:sp>
      <p:sp>
        <p:nvSpPr>
          <p:cNvPr id="42" name="Text 39"/>
          <p:cNvSpPr txBox="1"/>
          <p:nvPr/>
        </p:nvSpPr>
        <p:spPr>
          <a:xfrm>
            <a:off x="747064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Links</a:t>
            </a:r>
            <a:endParaRPr lang="en-US" sz="1300" dirty="0"/>
          </a:p>
        </p:txBody>
      </p:sp>
      <p:sp>
        <p:nvSpPr>
          <p:cNvPr id="43" name="Text 40"/>
          <p:cNvSpPr txBox="1"/>
          <p:nvPr/>
        </p:nvSpPr>
        <p:spPr>
          <a:xfrm>
            <a:off x="747064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+ siblings + action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9509760" y="4251960"/>
            <a:ext cx="2103120" cy="16002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710928" y="441655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2400" dirty="0"/>
          </a:p>
        </p:txBody>
      </p:sp>
      <p:sp>
        <p:nvSpPr>
          <p:cNvPr id="46" name="Text 43"/>
          <p:cNvSpPr txBox="1"/>
          <p:nvPr/>
        </p:nvSpPr>
        <p:spPr>
          <a:xfrm>
            <a:off x="9710928" y="4965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9710928" y="527608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to sales truth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AUTHORITY MODEL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 assets should behave like one system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468880" cy="2377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6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builder hub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136392" y="3630168"/>
            <a:ext cx="128016" cy="12801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3280" y="2514600"/>
            <a:ext cx="2468880" cy="237744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60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gap-led blogs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971032" y="3630168"/>
            <a:ext cx="128016" cy="12801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2514600"/>
            <a:ext cx="246888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4652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60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authority assets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805672" y="3630168"/>
            <a:ext cx="128016" cy="128016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52560" y="2514600"/>
            <a:ext cx="2468880" cy="2377440"/>
          </a:xfrm>
          <a:prstGeom prst="rect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26974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CRM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outcome truth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Parent ownership prevents cannibalization. Contextual links move readers toward the right answer and the right next step.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FIVE SEPARATE BLOGS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owns one verified gap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01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ideas for homebuilders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ideas that build trust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78892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9008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99008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299008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02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99008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 for builders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299008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to spend + measure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02920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23036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3036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400" dirty="0"/>
          </a:p>
        </p:txBody>
      </p:sp>
      <p:sp>
        <p:nvSpPr>
          <p:cNvPr id="23" name="Text 20"/>
          <p:cNvSpPr txBox="1"/>
          <p:nvPr/>
        </p:nvSpPr>
        <p:spPr>
          <a:xfrm>
            <a:off x="523036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03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523036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builder marketing automation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23036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follow-ups worth automating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26948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47064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47064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400" dirty="0"/>
          </a:p>
        </p:txBody>
      </p:sp>
      <p:sp>
        <p:nvSpPr>
          <p:cNvPr id="29" name="Text 26"/>
          <p:cNvSpPr txBox="1"/>
          <p:nvPr/>
        </p:nvSpPr>
        <p:spPr>
          <a:xfrm>
            <a:off x="747064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04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47064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builder marketing solutions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47064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a system, not tactics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509760" y="2514600"/>
            <a:ext cx="2103120" cy="34290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710928" y="2743200"/>
            <a:ext cx="201168" cy="201168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710928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400" dirty="0"/>
          </a:p>
        </p:txBody>
      </p:sp>
      <p:sp>
        <p:nvSpPr>
          <p:cNvPr id="35" name="Text 32"/>
          <p:cNvSpPr txBox="1"/>
          <p:nvPr/>
        </p:nvSpPr>
        <p:spPr>
          <a:xfrm>
            <a:off x="9710928" y="3977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BLOG 05</a:t>
            </a:r>
            <a:endParaRPr lang="en-US" sz="800" dirty="0"/>
          </a:p>
        </p:txBody>
      </p:sp>
      <p:sp>
        <p:nvSpPr>
          <p:cNvPr id="36" name="Text 33"/>
          <p:cNvSpPr txBox="1"/>
          <p:nvPr/>
        </p:nvSpPr>
        <p:spPr>
          <a:xfrm>
            <a:off x="9710928" y="425196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E6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home builder marketing agency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710928" y="4983480"/>
            <a:ext cx="1700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hire + how to judge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ANSWER-ENGINE READINESS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baked into every blog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8986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ANSWER FIRST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164592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comprehension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64592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answer, definition and descriptive headings make the page easy for people and machines to parse.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2468880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28232" y="2743200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89864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269480" y="27249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SUPPORT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294436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gain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269480" y="333756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steps, tradeoffs and specific review questions create usefulness beyond generic summaries.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0467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70916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TRUST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164592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Proof boundaries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164592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sources, explicit caveats, named review gates and no invented results or guarantees.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72200" y="4279392"/>
            <a:ext cx="5468112" cy="1664208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28232" y="4553712"/>
            <a:ext cx="640080" cy="640080"/>
          </a:xfrm>
          <a:prstGeom prst="ellipse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70916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69480" y="453542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CONTEXT</a:t>
            </a:r>
            <a:endParaRPr lang="en-US" sz="800" dirty="0"/>
          </a:p>
        </p:txBody>
      </p:sp>
      <p:sp>
        <p:nvSpPr>
          <p:cNvPr id="30" name="Text 23"/>
          <p:cNvSpPr txBox="1"/>
          <p:nvPr/>
        </p:nvSpPr>
        <p:spPr>
          <a:xfrm>
            <a:off x="7269480" y="4754880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data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269480" y="5148072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BlogPosting and Breadcrumb candidates mirror visible content. FAQs stay reader-first without a rich-result promise.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WORDPRESS BACKEND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→ review → release → verify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post, slug, author, category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04288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14016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15184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2615184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615184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facts, links, images, permissions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169664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79392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0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4480560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SEO QA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480560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meta, canonical, robots, one H1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035040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44768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345936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2"/>
          <p:cNvSpPr txBox="1"/>
          <p:nvPr/>
        </p:nvSpPr>
        <p:spPr>
          <a:xfrm>
            <a:off x="6345936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 QA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345936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mobile, keyboard, forms, speed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900416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10144" y="2514600"/>
            <a:ext cx="1737360" cy="246888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11312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000" dirty="0"/>
          </a:p>
        </p:txBody>
      </p:sp>
      <p:sp>
        <p:nvSpPr>
          <p:cNvPr id="30" name="Text 27"/>
          <p:cNvSpPr txBox="1"/>
          <p:nvPr/>
        </p:nvSpPr>
        <p:spPr>
          <a:xfrm>
            <a:off x="8211312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RELEASE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8211312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timing + owner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9765792" y="3685032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875520" y="2514600"/>
            <a:ext cx="1737360" cy="246888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076688" y="26974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3000" dirty="0"/>
          </a:p>
        </p:txBody>
      </p:sp>
      <p:sp>
        <p:nvSpPr>
          <p:cNvPr id="35" name="Text 32"/>
          <p:cNvSpPr txBox="1"/>
          <p:nvPr/>
        </p:nvSpPr>
        <p:spPr>
          <a:xfrm>
            <a:off x="10076688" y="3474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VERIFY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0076688" y="37947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sitemap, URL inspection</a:t>
            </a:r>
            <a:endParaRPr lang="en-US" sz="10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349240"/>
            <a:ext cx="457200" cy="457200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1143000" y="5285232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draft enters the sitemap. No public publish occurs without a named release owner.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MEASUREMENT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Rankings become useful when they connect to sales truth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+ landing page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67919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8892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99008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299008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99008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next behavior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91947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3036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523036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ACTION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23036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hand raise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15975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269480" y="2514600"/>
            <a:ext cx="2103120" cy="237744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47064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400" dirty="0"/>
          </a:p>
        </p:txBody>
      </p:sp>
      <p:sp>
        <p:nvSpPr>
          <p:cNvPr id="25" name="Text 22"/>
          <p:cNvSpPr txBox="1"/>
          <p:nvPr/>
        </p:nvSpPr>
        <p:spPr>
          <a:xfrm>
            <a:off x="747064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QUALIFICATION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47064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acceptance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400032" y="3657600"/>
            <a:ext cx="91440" cy="91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509760" y="2514600"/>
            <a:ext cx="2103120" cy="237744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710928" y="269748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9710928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OUTCOME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710928" y="3840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+ revenue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548640" y="5166360"/>
            <a:ext cx="11091672" cy="68580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51663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 Console  +  analytics  +  verified events  +  CRM source  +  sales feedback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E6A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90-DAY ROLLOUT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Repair first. Release in waves. Learn before scaling.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651760" cy="251460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1–14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P0/P1 + approve facts and imagery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383280" y="2514600"/>
            <a:ext cx="2651760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61188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361188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15–30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first two + verify events and indexing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17920" y="2514600"/>
            <a:ext cx="2651760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4652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44652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remaining three + strengthen proof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052560" y="2514600"/>
            <a:ext cx="2651760" cy="2514600"/>
          </a:xfrm>
          <a:prstGeom prst="rect">
            <a:avLst/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26974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200" kern="0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9319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query ownership + qualified demand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3035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12-month scale: expand only where Search Console, client questions and sales feedback justify the next asset.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igorang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1133856" cy="3840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3550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FC8C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LEADERSHIP REVIEW  ·  SEPTEMBER 3, 2026  ·  PRIVATE REVIEW DRAFT</a:t>
            </a:r>
            <a:endParaRPr lang="en-US" sz="700" dirty="0"/>
          </a:p>
        </p:txBody>
      </p:sp>
      <p:sp>
        <p:nvSpPr>
          <p:cNvPr id="4" name="Shape 1"/>
          <p:cNvSpPr/>
          <p:nvPr/>
        </p:nvSpPr>
        <p:spPr>
          <a:xfrm>
            <a:off x="10991088" y="6400800"/>
            <a:ext cx="100584" cy="100584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155680" y="63276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THURSDAY CLOSE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28016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Seven decisions that unlock the work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the five topics and keyword ownership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8328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8444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358444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 the factual reviewer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1792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908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1908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Approve or replace image briefs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052560" y="242316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53728" y="2560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253728" y="297180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Assign the technical repair sprint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84048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" y="43891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the first two releases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383280" y="3840480"/>
            <a:ext cx="2651760" cy="1280160"/>
          </a:xfrm>
          <a:prstGeom prst="rect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8444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3584448" y="43891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 web-to-CRM measurement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17920" y="3840480"/>
            <a:ext cx="2651760" cy="1280160"/>
          </a:xfrm>
          <a:prstGeom prst="rect">
            <a:avLst/>
          </a:prstGeom>
          <a:solidFill>
            <a:srgbClr val="FF7C00"/>
          </a:solidFill>
          <a:ln w="12700">
            <a:solidFill>
              <a:srgbClr val="FF7C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19088" y="3977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2000" dirty="0"/>
          </a:p>
        </p:txBody>
      </p:sp>
      <p:sp>
        <p:nvSpPr>
          <p:cNvPr id="28" name="Text 25"/>
          <p:cNvSpPr txBox="1"/>
          <p:nvPr/>
        </p:nvSpPr>
        <p:spPr>
          <a:xfrm>
            <a:off x="6419088" y="43891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 whether to scope Phase 2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52560" y="3840480"/>
            <a:ext cx="2587752" cy="1280160"/>
          </a:xfrm>
          <a:prstGeom prst="rect">
            <a:avLst/>
          </a:prstGeom>
          <a:solidFill>
            <a:srgbClr val="121212"/>
          </a:solidFill>
          <a:ln w="12700">
            <a:solidFill>
              <a:srgbClr val="1212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5349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7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is a named owner, a release sequence and a measurement contract — not a longer idea list.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BigOrange Thursday WordPress Growth Review</dc:title>
  <dc:subject>PptxGenJS Presentation</dc:subject>
  <dc:creator>BigOrange.Marketing</dc:creator>
  <cp:lastModifiedBy>BigOrange.Marketing</cp:lastModifiedBy>
  <cp:revision>1</cp:revision>
  <dcterms:created xsi:type="dcterms:W3CDTF">2026-09-02T17:30:40Z</dcterms:created>
  <dcterms:modified xsi:type="dcterms:W3CDTF">2026-09-02T17:30:40Z</dcterms:modified>
</cp:coreProperties>
</file>