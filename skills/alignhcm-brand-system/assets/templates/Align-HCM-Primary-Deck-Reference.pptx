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69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3" Type="http://schemas.openxmlformats.org/officeDocument/2006/relationships/image" Target="../media/image2.png" 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Panel"/>
          <p:cNvSpPr/>
          <p:nvPr/>
        </p:nvSpPr>
        <p:spPr>
          <a:xfrm>
            <a:off x="8138160" y="0"/>
            <a:ext cx="4053809" cy="68580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nelDivider"/>
          <p:cNvSpPr/>
          <p:nvPr/>
        </p:nvSpPr>
        <p:spPr>
          <a:xfrm>
            <a:off x="8110727" y="0"/>
            <a:ext cx="32004" cy="6858000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lignHCM_Logo" descr="align-hc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13232"/>
            <a:ext cx="2514600" cy="1165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76148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180">
                <a:solidFill>
                  <a:srgbClr val="E97722"/>
                </a:solidFill>
                <a:latin typeface="Calibri"/>
              </a:rPr>
              <a:t>{{DECK_TYPE}}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6949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mbria"/>
              </a:rPr>
              <a:t>{{CLIENT}}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4164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DF2F8"/>
                </a:solidFill>
                <a:latin typeface="Calibri"/>
              </a:rPr>
              <a:t>{{ENGAGEMENT}}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8172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56048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2DF"/>
                </a:solidFill>
                <a:latin typeface="Calibri"/>
              </a:rPr>
              <a:t>{{DATE}}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61488"/>
            <a:ext cx="405380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 spc="160">
                <a:solidFill>
                  <a:srgbClr val="C7D2DF"/>
                </a:solidFill>
                <a:latin typeface="Calibri"/>
              </a:rPr>
              <a:t>PREPARED FOR</a:t>
            </a:r>
          </a:p>
        </p:txBody>
      </p:sp>
      <p:pic>
        <p:nvPicPr>
          <p:cNvPr id="12" name="CLIENT_LOGO" descr="Verified clien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184" y="3177899"/>
            <a:ext cx="2651760" cy="883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890744" y="4386918"/>
            <a:ext cx="548640" cy="32004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51052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7D2DF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7D2DF"/>
                </a:solidFill>
                <a:latin typeface="Calibri"/>
              </a:rPr>
              <a:t>Align HCM   ·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B05512"/>
                </a:solidFill>
                <a:latin typeface="Calibri"/>
              </a:rPr>
              <a:t>{{CLIENT}}  ·  {{ENGAGEMENT}}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2E3E"/>
                </a:solidFill>
                <a:latin typeface="Cambria"/>
              </a:rPr>
              <a:t>Executive Summary</a:t>
            </a: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3849"/>
                </a:solidFill>
                <a:latin typeface="Calibri"/>
              </a:rPr>
              <a:t>{{CLIENT}} is bringing approximately {{COUNT}} employees onto the existing {{TARGET_PLATFORM}} environment, migrating them off {{SOURCE_PLATFORM}}.</a:t>
            </a:r>
          </a:p>
        </p:txBody>
      </p:sp>
      <p:sp>
        <p:nvSpPr>
          <p:cNvPr id="7" name="ExecCard1"/>
          <p:cNvSpPr/>
          <p:nvPr/>
        </p:nvSpPr>
        <p:spPr>
          <a:xfrm>
            <a:off x="685800" y="2139696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3" y="2450591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ALIGN_ICON_S2_1" descr="icon-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2583179"/>
            <a:ext cx="265176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28216" y="2569463"/>
            <a:ext cx="38831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{{COUNT}} employees, {{SOURCE_PLATFORM}} to {{TARGET_PLATFORM}}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090672"/>
            <a:ext cx="45963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EDF2F8"/>
                </a:solidFill>
                <a:latin typeface="Calibri"/>
              </a:rPr>
              <a:t>{{COUNT}} employees at {{CLIENT}} move from {{SOURCE_PLATFORM}} onto the existing {{TARGET_PLATFORM}} environment.</a:t>
            </a:r>
          </a:p>
        </p:txBody>
      </p:sp>
      <p:sp>
        <p:nvSpPr>
          <p:cNvPr id="12" name="ExecCard2"/>
          <p:cNvSpPr/>
          <p:nvPr/>
        </p:nvSpPr>
        <p:spPr>
          <a:xfrm>
            <a:off x="6251432" y="2139696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0616" y="2450591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ALIGN_ICON_S2_2" descr="icon-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204" y="2583179"/>
            <a:ext cx="265176" cy="2651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93848" y="2569463"/>
            <a:ext cx="38831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Existing business rules 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0616" y="3090672"/>
            <a:ext cx="45963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EDF2F8"/>
                </a:solidFill>
                <a:latin typeface="Calibri"/>
              </a:rPr>
              <a:t>{{CLIENT}} employees will be set up under the existing business rules, pay rules, and accrual rules already in production.</a:t>
            </a:r>
          </a:p>
        </p:txBody>
      </p:sp>
      <p:sp>
        <p:nvSpPr>
          <p:cNvPr id="17" name="ExecCard3"/>
          <p:cNvSpPr/>
          <p:nvPr/>
        </p:nvSpPr>
        <p:spPr>
          <a:xfrm>
            <a:off x="685800" y="4224527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4983" y="4535423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ALIGN_ICON_S2_3" descr="icon-con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" y="4668011"/>
            <a:ext cx="265176" cy="2651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28216" y="4654295"/>
            <a:ext cx="38831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Scope: Pro, {{WORKSTREAM}}, data &amp;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5175503"/>
            <a:ext cx="45963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EDF2F8"/>
                </a:solidFill>
                <a:latin typeface="Calibri"/>
              </a:rPr>
              <a:t>Project management, {{TARGET_PLATFORM}} / {{WORKSTREAM}} system configuration, and data conversion.</a:t>
            </a:r>
          </a:p>
        </p:txBody>
      </p:sp>
      <p:sp>
        <p:nvSpPr>
          <p:cNvPr id="22" name="ExecCard4"/>
          <p:cNvSpPr/>
          <p:nvPr/>
        </p:nvSpPr>
        <p:spPr>
          <a:xfrm>
            <a:off x="6251432" y="4224527"/>
            <a:ext cx="5254736" cy="1773936"/>
          </a:xfrm>
          <a:prstGeom prst="roundRect">
            <a:avLst>
              <a:gd name="adj" fmla="val 670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0616" y="4535423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ALIGN_ICON_S2_4" descr="icon-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204" y="4668011"/>
            <a:ext cx="265176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93848" y="4654295"/>
            <a:ext cx="38831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16-week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0616" y="5175503"/>
            <a:ext cx="459636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EDF2F8"/>
                </a:solidFill>
                <a:latin typeface="Calibri"/>
              </a:rPr>
              <a:t>12 weeks of implementation plus 4 weeks of post go-live support, targeting a {{GO_LIVE}} go-live (actual go-live is the first pay in January and first punch on the first day of that pay period).</a:t>
            </a:r>
          </a:p>
        </p:txBody>
      </p:sp>
      <p:sp>
        <p:nvSpPr>
          <p:cNvPr id="27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563"/>
                </a:solidFill>
                <a:latin typeface="Calibri"/>
              </a:rPr>
              <a:t>alignhcm.com</a:t>
            </a:r>
          </a:p>
        </p:txBody>
      </p:sp>
      <p:sp>
        <p:nvSpPr>
          <p:cNvPr id="28" name="FooterMid"/>
          <p:cNvSpPr txBox="1"/>
          <p:nvPr/>
        </p:nvSpPr>
        <p:spPr>
          <a:xfrm>
            <a:off x="4724384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A5563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29" name="FooterRight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A5563"/>
                </a:solidFill>
                <a:latin typeface="Calibri"/>
              </a:rPr>
              <a:t>Align HCM   ·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B05512"/>
                </a:solidFill>
                <a:latin typeface="Calibri"/>
              </a:rPr>
              <a:t>16 WEEKS TO GO-LIVE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2E3E"/>
                </a:solidFill>
                <a:latin typeface="Cambria"/>
              </a:rPr>
              <a:t>Proposed Timeline</a:t>
            </a: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3849"/>
                </a:solidFill>
                <a:latin typeface="Calibri"/>
              </a:rPr>
              <a:t>16 weeks total: 12-week implementation + 4 weeks of post go-live support.</a:t>
            </a:r>
          </a:p>
        </p:txBody>
      </p:sp>
      <p:sp>
        <p:nvSpPr>
          <p:cNvPr id="7" name="Phase1"/>
          <p:cNvSpPr/>
          <p:nvPr/>
        </p:nvSpPr>
        <p:spPr>
          <a:xfrm>
            <a:off x="685800" y="2743200"/>
            <a:ext cx="954575" cy="1097280"/>
          </a:xfrm>
          <a:prstGeom prst="roundRect">
            <a:avLst>
              <a:gd name="adj" fmla="val 8621"/>
            </a:avLst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944368"/>
            <a:ext cx="80827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Kickoff &amp;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11296"/>
            <a:ext cx="8082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F2F8"/>
                </a:solidFill>
                <a:latin typeface="Calibri"/>
              </a:rPr>
              <a:t>Wk 1-2</a:t>
            </a:r>
          </a:p>
        </p:txBody>
      </p:sp>
      <p:sp>
        <p:nvSpPr>
          <p:cNvPr id="10" name="Phase2"/>
          <p:cNvSpPr/>
          <p:nvPr/>
        </p:nvSpPr>
        <p:spPr>
          <a:xfrm>
            <a:off x="1704383" y="2743200"/>
            <a:ext cx="1909150" cy="1097280"/>
          </a:xfrm>
          <a:prstGeom prst="roundRect">
            <a:avLst>
              <a:gd name="adj" fmla="val 7500"/>
            </a:avLst>
          </a:prstGeom>
          <a:solidFill>
            <a:srgbClr val="26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77535" y="2944368"/>
            <a:ext cx="176284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Analysis &amp;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7535" y="3511296"/>
            <a:ext cx="176284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F2F8"/>
                </a:solidFill>
                <a:latin typeface="Calibri"/>
              </a:rPr>
              <a:t>Wk 2-5</a:t>
            </a:r>
          </a:p>
        </p:txBody>
      </p:sp>
      <p:sp>
        <p:nvSpPr>
          <p:cNvPr id="13" name="Phase3"/>
          <p:cNvSpPr/>
          <p:nvPr/>
        </p:nvSpPr>
        <p:spPr>
          <a:xfrm>
            <a:off x="3677542" y="2743200"/>
            <a:ext cx="2386438" cy="1097280"/>
          </a:xfrm>
          <a:prstGeom prst="roundRect">
            <a:avLst>
              <a:gd name="adj" fmla="val 7500"/>
            </a:avLst>
          </a:prstGeom>
          <a:solidFill>
            <a:srgbClr val="2F4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0694" y="2944368"/>
            <a:ext cx="224013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Configuration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&amp;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0694" y="3511296"/>
            <a:ext cx="224013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F2F8"/>
                </a:solidFill>
                <a:latin typeface="Calibri"/>
              </a:rPr>
              <a:t>Wk 4-8</a:t>
            </a:r>
          </a:p>
        </p:txBody>
      </p:sp>
      <p:sp>
        <p:nvSpPr>
          <p:cNvPr id="16" name="Phase4"/>
          <p:cNvSpPr/>
          <p:nvPr/>
        </p:nvSpPr>
        <p:spPr>
          <a:xfrm>
            <a:off x="6127988" y="2743200"/>
            <a:ext cx="1909150" cy="1097280"/>
          </a:xfrm>
          <a:prstGeom prst="roundRect">
            <a:avLst>
              <a:gd name="adj" fmla="val 7500"/>
            </a:avLst>
          </a:prstGeom>
          <a:solidFill>
            <a:srgbClr val="3A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1140" y="2944368"/>
            <a:ext cx="176284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1140" y="3511296"/>
            <a:ext cx="176284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F2F8"/>
                </a:solidFill>
                <a:latin typeface="Calibri"/>
              </a:rPr>
              <a:t>Wk 7-10</a:t>
            </a:r>
          </a:p>
        </p:txBody>
      </p:sp>
      <p:sp>
        <p:nvSpPr>
          <p:cNvPr id="19" name="Phase5"/>
          <p:cNvSpPr/>
          <p:nvPr/>
        </p:nvSpPr>
        <p:spPr>
          <a:xfrm>
            <a:off x="8101147" y="2743200"/>
            <a:ext cx="1431863" cy="1097280"/>
          </a:xfrm>
          <a:prstGeom prst="roundRect">
            <a:avLst>
              <a:gd name="adj" fmla="val 7500"/>
            </a:avLst>
          </a:prstGeom>
          <a:solidFill>
            <a:srgbClr val="465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299" y="2944368"/>
            <a:ext cx="12855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Testing &amp;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UAT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299" y="3511296"/>
            <a:ext cx="128555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F2F8"/>
                </a:solidFill>
                <a:latin typeface="Calibri"/>
              </a:rPr>
              <a:t>Wk 9-11</a:t>
            </a:r>
          </a:p>
        </p:txBody>
      </p:sp>
      <p:sp>
        <p:nvSpPr>
          <p:cNvPr id="22" name="Phase6"/>
          <p:cNvSpPr/>
          <p:nvPr/>
        </p:nvSpPr>
        <p:spPr>
          <a:xfrm>
            <a:off x="9597018" y="2743200"/>
            <a:ext cx="1909150" cy="1097280"/>
          </a:xfrm>
          <a:prstGeom prst="roundRect">
            <a:avLst>
              <a:gd name="adj" fmla="val 7500"/>
            </a:avLst>
          </a:prstGeom>
          <a:solidFill>
            <a:srgbClr val="55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0170" y="2944368"/>
            <a:ext cx="176284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Post Go-Live</a:t>
            </a:r>
          </a:p>
          <a:p>
            <a:pPr algn="ctr">
              <a:lnSpc>
                <a:spcPct val="102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0170" y="3511296"/>
            <a:ext cx="176284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F2F8"/>
                </a:solidFill>
                <a:latin typeface="Calibri"/>
              </a:rPr>
              <a:t>Wk 13-16</a:t>
            </a:r>
          </a:p>
        </p:txBody>
      </p:sp>
      <p:sp>
        <p:nvSpPr>
          <p:cNvPr id="25" name="GoLiveMarker"/>
          <p:cNvSpPr/>
          <p:nvPr/>
        </p:nvSpPr>
        <p:spPr>
          <a:xfrm>
            <a:off x="9554956" y="2432304"/>
            <a:ext cx="20116" cy="1499616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9174" y="1956816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B05512"/>
                </a:solidFill>
                <a:latin typeface="Calibri"/>
              </a:rPr>
              <a:t>GO-LIVE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B05512"/>
                </a:solidFill>
                <a:latin typeface="Calibri"/>
              </a:rPr>
              <a:t>Week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151376"/>
            <a:ext cx="843573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2B3849"/>
                </a:solidFill>
                <a:latin typeface="Calibri"/>
              </a:rPr>
              <a:t>Weeks 1-12  · 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6122" y="4151376"/>
            <a:ext cx="222004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2B3849"/>
                </a:solidFill>
                <a:latin typeface="Calibri"/>
              </a:rPr>
              <a:t>Weeks 13-16  ·  Post Go-Live</a:t>
            </a:r>
          </a:p>
        </p:txBody>
      </p:sp>
      <p:sp>
        <p:nvSpPr>
          <p:cNvPr id="29" name="TimelineNote"/>
          <p:cNvSpPr/>
          <p:nvPr/>
        </p:nvSpPr>
        <p:spPr>
          <a:xfrm>
            <a:off x="685800" y="4882896"/>
            <a:ext cx="10820369" cy="877824"/>
          </a:xfrm>
          <a:prstGeom prst="roundRect">
            <a:avLst>
              <a:gd name="adj" fmla="val 13541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8408" y="5056632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ALIGN_ICON_S3_1" descr="icon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" y="5189220"/>
            <a:ext cx="265176" cy="2651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55064" y="5120640"/>
            <a:ext cx="954020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DF2F8"/>
                </a:solidFill>
                <a:latin typeface="Calibri"/>
              </a:rPr>
              <a:t>Target go-live: {{GO_LIVE}}, with true go-live defined as the start of the first supported pay period.</a:t>
            </a:r>
          </a:p>
        </p:txBody>
      </p:sp>
      <p:sp>
        <p:nvSpPr>
          <p:cNvPr id="33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563"/>
                </a:solidFill>
                <a:latin typeface="Calibri"/>
              </a:rPr>
              <a:t>alignhcm.com</a:t>
            </a:r>
          </a:p>
        </p:txBody>
      </p:sp>
      <p:sp>
        <p:nvSpPr>
          <p:cNvPr id="34" name="FooterMid"/>
          <p:cNvSpPr txBox="1"/>
          <p:nvPr/>
        </p:nvSpPr>
        <p:spPr>
          <a:xfrm>
            <a:off x="4724384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A5563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35" name="FooterRight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A5563"/>
                </a:solidFill>
                <a:latin typeface="Calibri"/>
              </a:rPr>
              <a:t>Align HCM   ·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B05512"/>
                </a:solidFill>
                <a:latin typeface="Calibri"/>
              </a:rPr>
              <a:t>PHASE BY PHASE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2E3E"/>
                </a:solidFill>
                <a:latin typeface="Cambria"/>
              </a:rPr>
              <a:t>Milestones by Phase</a:t>
            </a: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3849"/>
                </a:solidFill>
                <a:latin typeface="Calibri"/>
              </a:rPr>
              <a:t>What gets delivered, and when, across the 16-week engagement.</a:t>
            </a:r>
          </a:p>
        </p:txBody>
      </p:sp>
      <p:graphicFrame>
        <p:nvGraphicFramePr>
          <p:cNvPr id="7" name="MilestonesTable"/>
          <p:cNvGraphicFramePr>
            <a:graphicFrameLocks noGrp="1"/>
          </p:cNvGraphicFramePr>
          <p:nvPr/>
        </p:nvGraphicFramePr>
        <p:xfrm>
          <a:off x="685800" y="2212848"/>
          <a:ext cx="10820369" cy="3890772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1143000"/>
                <a:gridCol w="6934169"/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232E3E"/>
                      </a:solidFill>
                    </a:lnL>
                    <a:lnR w="12700" cap="flat" cmpd="sng" algn="ctr">
                      <a:solidFill>
                        <a:srgbClr val="232E3E"/>
                      </a:solidFill>
                    </a:lnR>
                    <a:lnT w="12700" cap="flat" cmpd="sng" algn="ctr">
                      <a:solidFill>
                        <a:srgbClr val="232E3E"/>
                      </a:solidFill>
                    </a:lnT>
                    <a:lnB w="12700" cap="flat" cmpd="sng" algn="ctr">
                      <a:solidFill>
                        <a:srgbClr val="232E3E"/>
                      </a:solidFill>
                    </a:lnB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232E3E"/>
                      </a:solidFill>
                    </a:lnL>
                    <a:lnR w="12700" cap="flat" cmpd="sng" algn="ctr">
                      <a:solidFill>
                        <a:srgbClr val="232E3E"/>
                      </a:solidFill>
                    </a:lnR>
                    <a:lnT w="12700" cap="flat" cmpd="sng" algn="ctr">
                      <a:solidFill>
                        <a:srgbClr val="232E3E"/>
                      </a:solidFill>
                    </a:lnT>
                    <a:lnB w="12700" cap="flat" cmpd="sng" algn="ctr">
                      <a:solidFill>
                        <a:srgbClr val="232E3E"/>
                      </a:solidFill>
                    </a:lnB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Key Milestones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232E3E"/>
                      </a:solidFill>
                    </a:lnL>
                    <a:lnR w="12700" cap="flat" cmpd="sng" algn="ctr">
                      <a:solidFill>
                        <a:srgbClr val="232E3E"/>
                      </a:solidFill>
                    </a:lnR>
                    <a:lnT w="12700" cap="flat" cmpd="sng" algn="ctr">
                      <a:solidFill>
                        <a:srgbClr val="232E3E"/>
                      </a:solidFill>
                    </a:lnT>
                    <a:lnB w="12700" cap="flat" cmpd="sng" algn="ctr">
                      <a:solidFill>
                        <a:srgbClr val="232E3E"/>
                      </a:solidFill>
                    </a:lnB>
                    <a:solidFill>
                      <a:srgbClr val="232E3E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Kickoff &amp; Planning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B05512"/>
                          </a:solidFill>
                          <a:latin typeface="Calibri"/>
                        </a:rPr>
                        <a:t>Wk 1-2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B3849"/>
                          </a:solidFill>
                          <a:latin typeface="Calibri"/>
                        </a:rPr>
                        <a:t>Project kickoff, team alignment, environment access, project plan finalized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Analysis &amp; Validation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B05512"/>
                          </a:solidFill>
                          <a:latin typeface="Calibri"/>
                        </a:rPr>
                        <a:t>Wk 2-5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B3849"/>
                          </a:solidFill>
                          <a:latin typeface="Calibri"/>
                        </a:rPr>
                        <a:t>Validate the {{CLIENT}} population against existing business, pay, and accrual rules; confirm component company structure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Configuration &amp; Build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B05512"/>
                          </a:solidFill>
                          <a:latin typeface="Calibri"/>
                        </a:rPr>
                        <a:t>Wk 4-8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B3849"/>
                          </a:solidFill>
                          <a:latin typeface="Calibri"/>
                        </a:rPr>
                        <a:t>Component company setup in {{TARGET_PLATFORM}}, {{WORKSTREAM}} configuration walkthroughs, integration updates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Data Conversion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B05512"/>
                          </a:solidFill>
                          <a:latin typeface="Calibri"/>
                        </a:rPr>
                        <a:t>Wk 7-10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B3849"/>
                          </a:solidFill>
                          <a:latin typeface="Calibri"/>
                        </a:rPr>
                        <a:t>Convert and load {{CLIENT}} employee data from {{SOURCE_PLATFORM}}; validate demographic, pay, and accrual data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Testing &amp; UAT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B05512"/>
                          </a:solidFill>
                          <a:latin typeface="Calibri"/>
                        </a:rPr>
                        <a:t>Wk 9-11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B3849"/>
                          </a:solidFill>
                          <a:latin typeface="Calibri"/>
                        </a:rPr>
                        <a:t>Parallel payroll testing, user acceptance testing, sign-off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Go-Live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B05512"/>
                          </a:solidFill>
                          <a:latin typeface="Calibri"/>
                        </a:rPr>
                        <a:t>Wk 12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B3849"/>
                          </a:solidFill>
                          <a:latin typeface="Calibri"/>
                        </a:rPr>
                        <a:t>{{CLIENT}} employees live on {{TARGET_PLATFORM}}; first supported payroll processed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32E3E"/>
                          </a:solidFill>
                          <a:latin typeface="Calibri"/>
                        </a:rPr>
                        <a:t>Post Go-Live Support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5875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B05512"/>
                          </a:solidFill>
                          <a:latin typeface="Calibri"/>
                        </a:rPr>
                        <a:t>Wk 13-16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5875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B3849"/>
                          </a:solidFill>
                          <a:latin typeface="Calibri"/>
                        </a:rPr>
                        <a:t>Hypercare support, issue resolution, transition to steady state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5875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563"/>
                </a:solidFill>
                <a:latin typeface="Calibri"/>
              </a:rPr>
              <a:t>alignhcm.com</a:t>
            </a:r>
          </a:p>
        </p:txBody>
      </p:sp>
      <p:sp>
        <p:nvSpPr>
          <p:cNvPr id="9" name="FooterMid"/>
          <p:cNvSpPr txBox="1"/>
          <p:nvPr/>
        </p:nvSpPr>
        <p:spPr>
          <a:xfrm>
            <a:off x="4724384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A5563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10" name="FooterRight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A5563"/>
                </a:solidFill>
                <a:latin typeface="Calibri"/>
              </a:rPr>
              <a:t>Align HCM   ·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E97722"/>
                </a:solidFill>
                <a:latin typeface="Calibri"/>
              </a:rPr>
              <a:t>PHASE 1 INVESTMENT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AlignHCM — Planned Investment</a:t>
            </a: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DF2F8"/>
                </a:solidFill>
                <a:latin typeface="Calibri"/>
              </a:rPr>
              <a:t>Total project cost for a {{GO_LIVE}} go-live.</a:t>
            </a:r>
          </a:p>
        </p:txBody>
      </p:sp>
      <p:sp>
        <p:nvSpPr>
          <p:cNvPr id="7" name="PriceCard"/>
          <p:cNvSpPr/>
          <p:nvPr/>
        </p:nvSpPr>
        <p:spPr>
          <a:xfrm>
            <a:off x="685800" y="2249424"/>
            <a:ext cx="4754880" cy="2157984"/>
          </a:xfrm>
          <a:prstGeom prst="roundRect">
            <a:avLst>
              <a:gd name="adj" fmla="val 5508"/>
            </a:avLst>
          </a:prstGeom>
          <a:solidFill>
            <a:srgbClr val="1D2735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mbria"/>
              </a:rPr>
              <a:t>{{PRICE}}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97722"/>
                </a:solidFill>
                <a:latin typeface="Calibri"/>
              </a:rPr>
              <a:t>Total project investment  ·  {{GO_LIVE}} go-live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95344"/>
            <a:ext cx="374903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 i="0">
                <a:solidFill>
                  <a:srgbClr val="EDF2F8"/>
                </a:solidFill>
                <a:latin typeface="Calibri"/>
              </a:rPr>
              <a:t>Includes project management, {{TARGET_PLATFORM}} &amp; {{WORKSTREAM}} system configuration, and employee data conversion.</a:t>
            </a:r>
          </a:p>
        </p:txBody>
      </p:sp>
      <p:sp>
        <p:nvSpPr>
          <p:cNvPr id="11" name="EarlyGoLiveCard"/>
          <p:cNvSpPr/>
          <p:nvPr/>
        </p:nvSpPr>
        <p:spPr>
          <a:xfrm>
            <a:off x="5751576" y="2249424"/>
            <a:ext cx="5754593" cy="2157984"/>
          </a:xfrm>
          <a:prstGeom prst="roundRect">
            <a:avLst>
              <a:gd name="adj" fmla="val 5508"/>
            </a:avLst>
          </a:prstGeom>
          <a:solidFill>
            <a:srgbClr val="1D2735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62472" y="2560320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ALIGN_ICON_S5_1" descr="icon-arrow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59" y="2692908"/>
            <a:ext cx="265176" cy="265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39128" y="2633472"/>
            <a:ext cx="445614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+{{FEE}} for an earlier go-live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3218688"/>
            <a:ext cx="5132801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 i="0">
                <a:solidFill>
                  <a:srgbClr val="EDF2F8"/>
                </a:solidFill>
                <a:latin typeface="Calibri"/>
              </a:rPr>
              <a:t>If {{CLIENT}} goes live sooner than {{GO_LIVE}}, an additional {{FEE}} applies for the extra data conversion work required to bring over opening balances.</a:t>
            </a:r>
          </a:p>
        </p:txBody>
      </p:sp>
      <p:sp>
        <p:nvSpPr>
          <p:cNvPr id="16" name="ScopeCard"/>
          <p:cNvSpPr/>
          <p:nvPr/>
        </p:nvSpPr>
        <p:spPr>
          <a:xfrm>
            <a:off x="685800" y="4718304"/>
            <a:ext cx="10820369" cy="1188720"/>
          </a:xfrm>
          <a:prstGeom prst="roundRect">
            <a:avLst>
              <a:gd name="adj" fmla="val 10000"/>
            </a:avLst>
          </a:prstGeom>
          <a:solidFill>
            <a:srgbClr val="1D2735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6" y="5047488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ALIGN_ICON_S5_2" descr="icon-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" y="5180076"/>
            <a:ext cx="265176" cy="2651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3352" y="4937760"/>
            <a:ext cx="952192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12 weeks of implementation + 4 weeks of post go-live support = 16 weeks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5303520"/>
            <a:ext cx="954020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EDF2F8"/>
                </a:solidFill>
                <a:latin typeface="Calibri"/>
              </a:rPr>
              <a:t>Pricing reflects Phase 1 only: bringing {{COUNT}} employees at {{CLIENT}} onto the existing {{TARGET_PLATFORM}} environment. Phase 2 ({{PHASE_2_SCOPE}}) will be scoped and priced separately.</a:t>
            </a:r>
          </a:p>
        </p:txBody>
      </p:sp>
      <p:sp>
        <p:nvSpPr>
          <p:cNvPr id="21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7D2DF"/>
                </a:solidFill>
                <a:latin typeface="Calibri"/>
              </a:rPr>
              <a:t>alignhcm.com</a:t>
            </a:r>
          </a:p>
        </p:txBody>
      </p:sp>
      <p:sp>
        <p:nvSpPr>
          <p:cNvPr id="22" name="FooterMid"/>
          <p:cNvSpPr txBox="1"/>
          <p:nvPr/>
        </p:nvSpPr>
        <p:spPr>
          <a:xfrm>
            <a:off x="4724384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7D2DF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23" name="FooterRight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7D2DF"/>
                </a:solidFill>
                <a:latin typeface="Calibri"/>
              </a:rPr>
              <a:t>Align HCM   ·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8580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140">
                <a:solidFill>
                  <a:srgbClr val="B05512"/>
                </a:solidFill>
                <a:latin typeface="Calibri"/>
              </a:rPr>
              <a:t>YOUR TEAM'S ROLE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713232"/>
            <a:ext cx="1082036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2E3E"/>
                </a:solidFill>
                <a:latin typeface="Cambria"/>
              </a:rPr>
              <a:t>What We'll Need From Your Team</a:t>
            </a:r>
          </a:p>
        </p:txBody>
      </p:sp>
      <p:sp>
        <p:nvSpPr>
          <p:cNvPr id="5" name="TitleRule"/>
          <p:cNvSpPr/>
          <p:nvPr/>
        </p:nvSpPr>
        <p:spPr>
          <a:xfrm>
            <a:off x="685800" y="13898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685800" y="1536192"/>
            <a:ext cx="1082036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3849"/>
                </a:solidFill>
                <a:latin typeface="Calibri"/>
              </a:rPr>
              <a:t>Estimated level of engagement by project phase.</a:t>
            </a:r>
          </a:p>
        </p:txBody>
      </p:sp>
      <p:graphicFrame>
        <p:nvGraphicFramePr>
          <p:cNvPr id="7" name="EngagementTable"/>
          <p:cNvGraphicFramePr>
            <a:graphicFrameLocks noGrp="1"/>
          </p:cNvGraphicFramePr>
          <p:nvPr/>
        </p:nvGraphicFramePr>
        <p:xfrm>
          <a:off x="685800" y="2212848"/>
          <a:ext cx="10820550" cy="2322576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1578894"/>
                <a:gridCol w="1578894"/>
                <a:gridCol w="1578894"/>
                <a:gridCol w="1578894"/>
                <a:gridCol w="1578894"/>
              </a:tblGrid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232E3E"/>
                      </a:solidFill>
                    </a:lnL>
                    <a:lnR w="12700" cap="flat" cmpd="sng" algn="ctr">
                      <a:solidFill>
                        <a:srgbClr val="232E3E"/>
                      </a:solidFill>
                    </a:lnR>
                    <a:lnT w="12700" cap="flat" cmpd="sng" algn="ctr">
                      <a:solidFill>
                        <a:srgbClr val="232E3E"/>
                      </a:solidFill>
                    </a:lnT>
                    <a:lnB w="12700" cap="flat" cmpd="sng" algn="ctr">
                      <a:solidFill>
                        <a:srgbClr val="232E3E"/>
                      </a:solidFill>
                    </a:lnB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Kickoff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232E3E"/>
                      </a:solidFill>
                    </a:lnL>
                    <a:lnR w="12700" cap="flat" cmpd="sng" algn="ctr">
                      <a:solidFill>
                        <a:srgbClr val="232E3E"/>
                      </a:solidFill>
                    </a:lnR>
                    <a:lnT w="12700" cap="flat" cmpd="sng" algn="ctr">
                      <a:solidFill>
                        <a:srgbClr val="232E3E"/>
                      </a:solidFill>
                    </a:lnT>
                    <a:lnB w="12700" cap="flat" cmpd="sng" algn="ctr">
                      <a:solidFill>
                        <a:srgbClr val="232E3E"/>
                      </a:solidFill>
                    </a:lnB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Analysis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232E3E"/>
                      </a:solidFill>
                    </a:lnL>
                    <a:lnR w="12700" cap="flat" cmpd="sng" algn="ctr">
                      <a:solidFill>
                        <a:srgbClr val="232E3E"/>
                      </a:solidFill>
                    </a:lnR>
                    <a:lnT w="12700" cap="flat" cmpd="sng" algn="ctr">
                      <a:solidFill>
                        <a:srgbClr val="232E3E"/>
                      </a:solidFill>
                    </a:lnT>
                    <a:lnB w="12700" cap="flat" cmpd="sng" algn="ctr">
                      <a:solidFill>
                        <a:srgbClr val="232E3E"/>
                      </a:solidFill>
                    </a:lnB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Build &amp; Convert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232E3E"/>
                      </a:solidFill>
                    </a:lnL>
                    <a:lnR w="12700" cap="flat" cmpd="sng" algn="ctr">
                      <a:solidFill>
                        <a:srgbClr val="232E3E"/>
                      </a:solidFill>
                    </a:lnR>
                    <a:lnT w="12700" cap="flat" cmpd="sng" algn="ctr">
                      <a:solidFill>
                        <a:srgbClr val="232E3E"/>
                      </a:solidFill>
                    </a:lnT>
                    <a:lnB w="12700" cap="flat" cmpd="sng" algn="ctr">
                      <a:solidFill>
                        <a:srgbClr val="232E3E"/>
                      </a:solidFill>
                    </a:lnB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232E3E"/>
                      </a:solidFill>
                    </a:lnL>
                    <a:lnR w="12700" cap="flat" cmpd="sng" algn="ctr">
                      <a:solidFill>
                        <a:srgbClr val="232E3E"/>
                      </a:solidFill>
                    </a:lnR>
                    <a:lnT w="12700" cap="flat" cmpd="sng" algn="ctr">
                      <a:solidFill>
                        <a:srgbClr val="232E3E"/>
                      </a:solidFill>
                    </a:lnT>
                    <a:lnB w="12700" cap="flat" cmpd="sng" algn="ctr">
                      <a:solidFill>
                        <a:srgbClr val="232E3E"/>
                      </a:solidFill>
                    </a:lnB>
                    <a:solidFill>
                      <a:srgbClr val="232E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Go-Live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232E3E"/>
                      </a:solidFill>
                    </a:lnL>
                    <a:lnR w="12700" cap="flat" cmpd="sng" algn="ctr">
                      <a:solidFill>
                        <a:srgbClr val="232E3E"/>
                      </a:solidFill>
                    </a:lnR>
                    <a:lnT w="12700" cap="flat" cmpd="sng" algn="ctr">
                      <a:solidFill>
                        <a:srgbClr val="232E3E"/>
                      </a:solidFill>
                    </a:lnT>
                    <a:lnB w="12700" cap="flat" cmpd="sng" algn="ctr">
                      <a:solidFill>
                        <a:srgbClr val="232E3E"/>
                      </a:solidFill>
                    </a:lnB>
                    <a:solidFill>
                      <a:srgbClr val="232E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232E3E"/>
                          </a:solidFill>
                          <a:latin typeface="Calibri"/>
                        </a:rPr>
                        <a:t>Project Lead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551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551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551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551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B3849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232E3E"/>
                          </a:solidFill>
                          <a:latin typeface="Calibri"/>
                        </a:rPr>
                        <a:t>HR / Payroll SME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B3849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94480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551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94480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551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232E3E"/>
                          </a:solidFill>
                          <a:latin typeface="Calibri"/>
                        </a:rPr>
                        <a:t>System Administrator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B3849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551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94480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551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551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2700" cap="flat" cmpd="sng" algn="ctr">
                      <a:solidFill>
                        <a:srgbClr val="C5CE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232E3E"/>
                          </a:solidFill>
                          <a:latin typeface="Calibri"/>
                        </a:rPr>
                        <a:t>IT / Data Contact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C5CEDA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5875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B3849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5875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B3849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5875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94480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5875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B3849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E3E8EE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5875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2B3849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82296" marR="82296" marT="50292" marB="50292" anchor="ctr">
                    <a:lnL w="12700" cap="flat" cmpd="sng" algn="ctr">
                      <a:solidFill>
                        <a:srgbClr val="E3E8EE"/>
                      </a:solidFill>
                    </a:lnL>
                    <a:lnR w="12700" cap="flat" cmpd="sng" algn="ctr">
                      <a:solidFill>
                        <a:srgbClr val="C5CEDA"/>
                      </a:solidFill>
                    </a:lnR>
                    <a:lnT w="12700" cap="flat" cmpd="sng" algn="ctr">
                      <a:solidFill>
                        <a:srgbClr val="C5CEDA"/>
                      </a:solidFill>
                    </a:lnT>
                    <a:lnB w="15875" cap="flat" cmpd="sng" algn="ctr">
                      <a:solidFill>
                        <a:srgbClr val="C5CEDA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8" name="EngagementCallout"/>
          <p:cNvSpPr/>
          <p:nvPr/>
        </p:nvSpPr>
        <p:spPr>
          <a:xfrm>
            <a:off x="685800" y="4901184"/>
            <a:ext cx="10820369" cy="1316736"/>
          </a:xfrm>
          <a:prstGeom prst="roundRect">
            <a:avLst>
              <a:gd name="adj" fmla="val 9027"/>
            </a:avLst>
          </a:prstGeom>
          <a:solidFill>
            <a:srgbClr val="232E3E"/>
          </a:solidFill>
          <a:ln w="15875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5294376"/>
            <a:ext cx="530352" cy="530352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ALIGN_ICON_S6_1" descr="icon-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" y="5426964"/>
            <a:ext cx="265176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5157216"/>
            <a:ext cx="950363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Your team stays focused on decisions and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522976"/>
            <a:ext cx="950363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EDF2F8"/>
                </a:solidFill>
                <a:latin typeface="Calibri"/>
              </a:rPr>
              <a:t>The {{CLIENT}} team confirms that {{CLIENT}} employees fit existing business rules, validates converted data, and supports UAT sign-off. AlignHCM leads configuration, data conversion, and testing coordination.</a:t>
            </a:r>
          </a:p>
        </p:txBody>
      </p:sp>
      <p:sp>
        <p:nvSpPr>
          <p:cNvPr id="13" name="FooterLeft"/>
          <p:cNvSpPr txBox="1"/>
          <p:nvPr/>
        </p:nvSpPr>
        <p:spPr>
          <a:xfrm>
            <a:off x="685800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563"/>
                </a:solidFill>
                <a:latin typeface="Calibri"/>
              </a:rPr>
              <a:t>alignhcm.com</a:t>
            </a:r>
          </a:p>
        </p:txBody>
      </p:sp>
      <p:sp>
        <p:nvSpPr>
          <p:cNvPr id="14" name="FooterMid"/>
          <p:cNvSpPr txBox="1"/>
          <p:nvPr/>
        </p:nvSpPr>
        <p:spPr>
          <a:xfrm>
            <a:off x="4724384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4A5563"/>
                </a:solidFill>
                <a:latin typeface="Calibri"/>
              </a:rPr>
              <a:t>© 2026 AlignHCM  ·  Confidential</a:t>
            </a:r>
          </a:p>
        </p:txBody>
      </p:sp>
      <p:sp>
        <p:nvSpPr>
          <p:cNvPr id="15" name="FooterRight"/>
          <p:cNvSpPr txBox="1"/>
          <p:nvPr/>
        </p:nvSpPr>
        <p:spPr>
          <a:xfrm>
            <a:off x="8762969" y="65105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A5563"/>
                </a:solidFill>
                <a:latin typeface="Calibri"/>
              </a:rPr>
              <a:t>Align HCM   ·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Panel"/>
          <p:cNvSpPr/>
          <p:nvPr/>
        </p:nvSpPr>
        <p:spPr>
          <a:xfrm>
            <a:off x="4206240" y="0"/>
            <a:ext cx="7985729" cy="6858000"/>
          </a:xfrm>
          <a:prstGeom prst="rect">
            <a:avLst/>
          </a:prstGeom>
          <a:solidFill>
            <a:srgbClr val="232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nelDivider"/>
          <p:cNvSpPr/>
          <p:nvPr/>
        </p:nvSpPr>
        <p:spPr>
          <a:xfrm>
            <a:off x="4178808" y="0"/>
            <a:ext cx="32004" cy="6858000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AlignHCM_Logo" descr="align-hc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0"/>
            <a:ext cx="2651760" cy="1229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2040" y="192024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 spc="180">
                <a:solidFill>
                  <a:srgbClr val="E97722"/>
                </a:solidFill>
                <a:latin typeface="Calibri"/>
              </a:rPr>
              <a:t>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249424"/>
            <a:ext cx="6309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Let's stay connected!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3218688"/>
            <a:ext cx="777240" cy="41148"/>
          </a:xfrm>
          <a:prstGeom prst="rect">
            <a:avLst/>
          </a:prstGeom>
          <a:solidFill>
            <a:srgbClr val="E9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3511296"/>
            <a:ext cx="603504" cy="603504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ALIGN_ICON_S7_1" descr="icon-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16" y="3662172"/>
            <a:ext cx="30175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0" y="3502152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{{ALIGN_CONTACT}}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867911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D2DF"/>
                </a:solidFill>
                <a:latin typeface="Calibri"/>
              </a:rPr>
              <a:t>Client Executive</a:t>
            </a:r>
          </a:p>
        </p:txBody>
      </p:sp>
      <p:sp>
        <p:nvSpPr>
          <p:cNvPr id="13" name="Oval 12"/>
          <p:cNvSpPr/>
          <p:nvPr/>
        </p:nvSpPr>
        <p:spPr>
          <a:xfrm>
            <a:off x="4892040" y="4407408"/>
            <a:ext cx="603504" cy="603504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ALIGN_ICON_S7_2" descr="icon-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16" y="4558284"/>
            <a:ext cx="301752" cy="301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0720" y="4535424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{{CONTACT_EMAIL}}</a:t>
            </a:r>
          </a:p>
        </p:txBody>
      </p:sp>
      <p:sp>
        <p:nvSpPr>
          <p:cNvPr id="16" name="Oval 15"/>
          <p:cNvSpPr/>
          <p:nvPr/>
        </p:nvSpPr>
        <p:spPr>
          <a:xfrm>
            <a:off x="4892040" y="5303520"/>
            <a:ext cx="603504" cy="603504"/>
          </a:xfrm>
          <a:prstGeom prst="ellipse">
            <a:avLst/>
          </a:prstGeom>
          <a:solidFill>
            <a:srgbClr val="2B3849"/>
          </a:solidFill>
          <a:ln w="12700">
            <a:solidFill>
              <a:srgbClr val="4A5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ALIGN_ICON_S7_3" descr="icon-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916" y="5454396"/>
            <a:ext cx="301752" cy="3017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60720" y="543153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{{CONTACT_PHONE}}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7D2DF"/>
                </a:solidFill>
                <a:latin typeface="Calibri"/>
              </a:rPr>
              <a:t>alignhcm.com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569" y="6510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7D2DF"/>
                </a:solidFill>
                <a:latin typeface="Calibri"/>
              </a:rPr>
              <a:t>© 2026 AlignHCM  ·  Confidential   ·  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