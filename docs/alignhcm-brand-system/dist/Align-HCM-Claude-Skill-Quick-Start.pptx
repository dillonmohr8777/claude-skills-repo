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0" r:id="rId5"/>
    <p:sldId id="264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Panel"/>
          <p:cNvSpPr/>
          <p:nvPr/>
        </p:nvSpPr>
        <p:spPr>
          <a:xfrm>
            <a:off x="8138160" y="0"/>
            <a:ext cx="4053809" cy="68580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nelDivider"/>
          <p:cNvSpPr/>
          <p:nvPr/>
        </p:nvSpPr>
        <p:spPr>
          <a:xfrm>
            <a:off x="8110727" y="0"/>
            <a:ext cx="32004" cy="6858000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lignHCM_Logo" descr="align-hc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13232"/>
            <a:ext cx="2514600" cy="1165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761488"/>
            <a:ext cx="6766560" cy="1846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200" b="1" i="0" spc="180">
                <a:solidFill>
                  <a:srgbClr val="E97722"/>
                </a:solidFill>
                <a:latin typeface="Calibri"/>
              </a:rPr>
              <a:t>ALIGN HCM BRAND SYSTEM</a:t>
            </a:r>
            <a:endParaRPr sz="1200" b="1" i="0" spc="180">
              <a:solidFill>
                <a:srgbClr val="E9772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6949440" cy="4616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3000" b="1" i="0">
                <a:solidFill>
                  <a:srgbClr val="FFFFFF"/>
                </a:solidFill>
                <a:latin typeface="Cambria"/>
              </a:rPr>
              <a:t>Claude Code Quick Start</a:t>
            </a:r>
            <a:endParaRPr sz="3000" b="1" i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041648"/>
            <a:ext cx="6949440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600" b="0" i="0">
                <a:solidFill>
                  <a:srgbClr val="EDF2F8"/>
                </a:solidFill>
                <a:latin typeface="Calibri"/>
              </a:rPr>
              <a:t>Install once. Invoke whenever exact Align output is required.</a:t>
            </a:r>
            <a:endParaRPr sz="1600" b="0" i="0">
              <a:solidFill>
                <a:srgbClr val="EDF2F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468172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956048"/>
            <a:ext cx="6949440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00" b="1" i="0">
                <a:solidFill>
                  <a:srgbClr val="C7D2DF"/>
                </a:solidFill>
                <a:latin typeface="Calibri"/>
              </a:rPr>
              <a:t>ORGANIZATION EDITION  |  AUGUST 2026</a:t>
            </a:r>
            <a:endParaRPr sz="1000" b="1" i="0">
              <a:solidFill>
                <a:srgbClr val="C7D2D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2761488"/>
            <a:ext cx="4053809" cy="1538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000" b="0" i="0" spc="160">
                <a:solidFill>
                  <a:srgbClr val="C7D2DF"/>
                </a:solidFill>
                <a:latin typeface="Calibri"/>
              </a:rPr>
              <a:t>FOR INTERNAL USE</a:t>
            </a:r>
            <a:endParaRPr sz="1000" b="0" i="0" spc="160">
              <a:solidFill>
                <a:srgbClr val="C7D2D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890744" y="4386918"/>
            <a:ext cx="548640" cy="32004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510528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900" b="0" i="0">
                <a:solidFill>
                  <a:srgbClr val="C7D2DF"/>
                </a:solidFill>
                <a:latin typeface="Calibri"/>
              </a:rPr>
              <a:t>Copyright 2026 AlignHCM  |  Confidential</a:t>
            </a:r>
            <a:endParaRPr sz="900" b="0" i="0">
              <a:solidFill>
                <a:srgbClr val="C7D2D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62969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sz="900" b="0" i="0">
                <a:solidFill>
                  <a:srgbClr val="C7D2DF"/>
                </a:solidFill>
                <a:latin typeface="Calibri"/>
              </a:rPr>
              <a:t>Align HCM   |   01</a:t>
            </a:r>
            <a:endParaRPr sz="900" b="0" i="0">
              <a:solidFill>
                <a:srgbClr val="C7D2DF"/>
              </a:solidFill>
              <a:latin typeface="Calibri"/>
            </a:endParaRPr>
          </a:p>
        </p:txBody>
      </p:sp>
      <p:sp>
        <p:nvSpPr>
          <p:cNvPr id="16" name="OrganizationGuideLabel">
            <a:extLst>
              <a:ext uri="{FF2B5EF4-FFF2-40B4-BE49-F238E27FC236}">
                <a16:creationId xmlns:a16="http://schemas.microsoft.com/office/drawing/2014/main" id="{7A631DAE-BFFE-EBBB-C90B-D34616654784}"/>
              </a:ext>
            </a:extLst>
          </p:cNvPr>
          <p:cNvSpPr txBox="1"/>
          <p:nvPr/>
        </p:nvSpPr>
        <p:spPr>
          <a:xfrm>
            <a:off x="8839184" y="3163824"/>
            <a:ext cx="2651760" cy="646331"/>
          </a:xfrm>
          <a:prstGeom prst="rect">
            <a:avLst/>
          </a:prstGeom>
          <a:noFill/>
        </p:spPr>
        <p:txBody>
          <a:bodyPr vert="horz" rtlCol="0" anchor="ctr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CLAUDE CODE</a:t>
            </a:r>
          </a:p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ORGANIZATION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i="0" spc="140">
                <a:solidFill>
                  <a:srgbClr val="B05512"/>
                </a:solidFill>
                <a:latin typeface="Calibri"/>
              </a:rPr>
              <a:t>ONE SKILL  |  EVERY ALIGN SURFACE</a:t>
            </a:r>
            <a:endParaRPr sz="1050" b="1" i="0" spc="140">
              <a:solidFill>
                <a:srgbClr val="B05512"/>
              </a:solidFill>
              <a:latin typeface="Calibri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4924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3200" b="1" i="0">
                <a:solidFill>
                  <a:srgbClr val="232E3E"/>
                </a:solidFill>
                <a:latin typeface="Cambria"/>
              </a:rPr>
              <a:t>What Claude Gets Right Every Time</a:t>
            </a:r>
            <a:endParaRPr sz="3200" b="1" i="0">
              <a:solidFill>
                <a:srgbClr val="232E3E"/>
              </a:solidFill>
              <a:latin typeface="Cambria"/>
            </a:endParaRP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0" i="0">
                <a:solidFill>
                  <a:srgbClr val="2B3849"/>
                </a:solidFill>
                <a:latin typeface="Calibri"/>
              </a:rPr>
              <a:t>The plugin carries the approved assets, exact deck reference, surface tokens, and validation rules with it.</a:t>
            </a:r>
            <a:endParaRPr sz="1700" b="0" i="0">
              <a:solidFill>
                <a:srgbClr val="2B3849"/>
              </a:solidFill>
              <a:latin typeface="Calibri"/>
            </a:endParaRPr>
          </a:p>
        </p:txBody>
      </p:sp>
      <p:sp>
        <p:nvSpPr>
          <p:cNvPr id="7" name="ExecCard1"/>
          <p:cNvSpPr/>
          <p:nvPr/>
        </p:nvSpPr>
        <p:spPr>
          <a:xfrm>
            <a:off x="685800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983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2583179"/>
            <a:ext cx="265176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28216" y="2569463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Exact Align deck system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4983" y="3090672"/>
            <a:ext cx="4596368" cy="7427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Starts from the bundled privacy-scrubbed master. Preserves the approved geometry, navy, orange, typography, footer rhythm, and Align artwork.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ExecCard2"/>
          <p:cNvSpPr/>
          <p:nvPr/>
        </p:nvSpPr>
        <p:spPr>
          <a:xfrm>
            <a:off x="6251432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80616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-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04" y="2583179"/>
            <a:ext cx="265176" cy="265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93848" y="2569463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Verified client co-branding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0616" y="3090672"/>
            <a:ext cx="4596368" cy="7427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Resolves the client from the current brief, uses a verified logo, preserves its aspect ratio, and places it in the approved cover zone.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ExecCard3"/>
          <p:cNvSpPr/>
          <p:nvPr/>
        </p:nvSpPr>
        <p:spPr>
          <a:xfrm>
            <a:off x="685800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4983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4668011"/>
            <a:ext cx="265176" cy="265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28216" y="4654295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Surface-specific brand rules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4983" y="5175503"/>
            <a:ext cx="4596368" cy="4893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Routes decks, documents, web, editorial, social, and motion work to the correct palette and production guidance.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ExecCard4"/>
          <p:cNvSpPr/>
          <p:nvPr/>
        </p:nvSpPr>
        <p:spPr>
          <a:xfrm>
            <a:off x="6251432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80616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n-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204" y="4668011"/>
            <a:ext cx="265176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93848" y="4654295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Validation before delivery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0616" y="5175503"/>
            <a:ext cx="4596368" cy="4893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Checks the exact Align logo, client logo fidelity, placeholders, colors, geometry, contrast, overflow, and final rendered output.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5563"/>
                </a:solidFill>
                <a:latin typeface="Calibri"/>
              </a:rPr>
              <a:t>alignhcm.com</a:t>
            </a:r>
          </a:p>
        </p:txBody>
      </p:sp>
      <p:sp>
        <p:nvSpPr>
          <p:cNvPr id="28" name="FooterMid"/>
          <p:cNvSpPr txBox="1"/>
          <p:nvPr/>
        </p:nvSpPr>
        <p:spPr>
          <a:xfrm>
            <a:off x="4724384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0" i="0">
                <a:solidFill>
                  <a:srgbClr val="4A5563"/>
                </a:solidFill>
                <a:latin typeface="Calibri"/>
              </a:rPr>
              <a:t>Copyright 2026 AlignHCM  |  Confidential</a:t>
            </a:r>
            <a:endParaRPr sz="900" b="0" i="0">
              <a:solidFill>
                <a:srgbClr val="4A5563"/>
              </a:solidFill>
              <a:latin typeface="Calibri"/>
            </a:endParaRPr>
          </a:p>
        </p:txBody>
      </p:sp>
      <p:sp>
        <p:nvSpPr>
          <p:cNvPr id="29" name="FooterRight"/>
          <p:cNvSpPr txBox="1"/>
          <p:nvPr/>
        </p:nvSpPr>
        <p:spPr>
          <a:xfrm>
            <a:off x="8762969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i="0">
                <a:solidFill>
                  <a:srgbClr val="4A5563"/>
                </a:solidFill>
                <a:latin typeface="Calibri"/>
              </a:rPr>
              <a:t>Align HCM   |   02</a:t>
            </a:r>
            <a:endParaRPr sz="900" b="0" i="0">
              <a:solidFill>
                <a:srgbClr val="4A556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i="0" spc="140">
                <a:solidFill>
                  <a:srgbClr val="B05512"/>
                </a:solidFill>
                <a:latin typeface="Calibri"/>
              </a:rPr>
              <a:t>ADMIN SETUP  |  RUN ONCE</a:t>
            </a:r>
            <a:endParaRPr sz="1050" b="1" i="0" spc="140">
              <a:solidFill>
                <a:srgbClr val="B05512"/>
              </a:solidFill>
              <a:latin typeface="Calibri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4924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3200" b="1" i="0">
                <a:solidFill>
                  <a:srgbClr val="232E3E"/>
                </a:solidFill>
                <a:latin typeface="Cambria"/>
              </a:rPr>
              <a:t>Install It in Claude Code</a:t>
            </a:r>
            <a:endParaRPr sz="3200" b="1" i="0">
              <a:solidFill>
                <a:srgbClr val="232E3E"/>
              </a:solidFill>
              <a:latin typeface="Cambria"/>
            </a:endParaRP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0" i="0">
                <a:solidFill>
                  <a:srgbClr val="2B3849"/>
                </a:solidFill>
                <a:latin typeface="Calibri"/>
              </a:rPr>
              <a:t>PR #22 must be merged before the organization uses the main-branch commands below.</a:t>
            </a:r>
            <a:endParaRPr sz="1700" b="0" i="0">
              <a:solidFill>
                <a:srgbClr val="2B3849"/>
              </a:solidFill>
              <a:latin typeface="Calibri"/>
            </a:endParaRPr>
          </a:p>
        </p:txBody>
      </p:sp>
      <p:sp>
        <p:nvSpPr>
          <p:cNvPr id="7" name="ExecCard1"/>
          <p:cNvSpPr/>
          <p:nvPr/>
        </p:nvSpPr>
        <p:spPr>
          <a:xfrm>
            <a:off x="685800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983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2583179"/>
            <a:ext cx="265176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28216" y="2569463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1  Add the marketplace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4983" y="3090672"/>
            <a:ext cx="4596368" cy="7427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250" b="0" i="0">
                <a:solidFill>
                  <a:srgbClr val="EDF2F8"/>
                </a:solidFill>
                <a:latin typeface="Consolas" panose="020B0609020204030204" pitchFamily="49" charset="0"/>
              </a:rPr>
              <a:t>/plugin marketplace add</a:t>
            </a:r>
          </a:p>
          <a:p>
            <a:pPr algn="l">
              <a:lnSpc>
                <a:spcPct val="122000"/>
              </a:lnSpc>
            </a:pPr>
            <a:r>
              <a:rPr lang="en-US" sz="1250" b="0" i="0">
                <a:solidFill>
                  <a:srgbClr val="EDF2F8"/>
                </a:solidFill>
                <a:latin typeface="Consolas" panose="020B0609020204030204" pitchFamily="49" charset="0"/>
              </a:rPr>
              <a:t>dillonmohr8777/claude-skills-repo</a:t>
            </a:r>
            <a:endParaRPr sz="1250" b="0" i="0">
              <a:solidFill>
                <a:srgbClr val="EDF2F8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ExecCard2"/>
          <p:cNvSpPr/>
          <p:nvPr/>
        </p:nvSpPr>
        <p:spPr>
          <a:xfrm>
            <a:off x="6251432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80616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-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04" y="2583179"/>
            <a:ext cx="265176" cy="265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93848" y="2569463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2  Install the plugin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0616" y="3090672"/>
            <a:ext cx="4596368" cy="7427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250" b="0" i="0">
                <a:solidFill>
                  <a:srgbClr val="EDF2F8"/>
                </a:solidFill>
                <a:latin typeface="Consolas" panose="020B0609020204030204" pitchFamily="49" charset="0"/>
              </a:rPr>
              <a:t>/plugin install alignhcm-brand-system@alignhcm-tools</a:t>
            </a:r>
            <a:endParaRPr sz="1250" b="0" i="0">
              <a:solidFill>
                <a:srgbClr val="EDF2F8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ExecCard3"/>
          <p:cNvSpPr/>
          <p:nvPr/>
        </p:nvSpPr>
        <p:spPr>
          <a:xfrm>
            <a:off x="685800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4983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4668011"/>
            <a:ext cx="265176" cy="265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28216" y="4654295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3  Reload Claude Code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4983" y="5175503"/>
            <a:ext cx="4596368" cy="4893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250" b="0" i="0">
                <a:solidFill>
                  <a:srgbClr val="EDF2F8"/>
                </a:solidFill>
                <a:latin typeface="Consolas" panose="020B0609020204030204" pitchFamily="49" charset="0"/>
              </a:rPr>
              <a:t>/reload-plugins</a:t>
            </a:r>
            <a:endParaRPr sz="1250" b="0" i="0">
              <a:solidFill>
                <a:srgbClr val="EDF2F8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ExecCard4"/>
          <p:cNvSpPr/>
          <p:nvPr/>
        </p:nvSpPr>
        <p:spPr>
          <a:xfrm>
            <a:off x="6251432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80616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n-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204" y="4668011"/>
            <a:ext cx="265176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93848" y="4654295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4  Confirm availability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0616" y="5175503"/>
            <a:ext cx="4596368" cy="4893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250" b="0" i="0">
                <a:solidFill>
                  <a:srgbClr val="EDF2F8"/>
                </a:solidFill>
                <a:latin typeface="Consolas" panose="020B0609020204030204" pitchFamily="49" charset="0"/>
              </a:rPr>
              <a:t>Type / and search for:</a:t>
            </a:r>
          </a:p>
          <a:p>
            <a:pPr algn="l">
              <a:lnSpc>
                <a:spcPct val="122000"/>
              </a:lnSpc>
            </a:pPr>
            <a:r>
              <a:rPr lang="en-US" sz="1250" b="0" i="0">
                <a:solidFill>
                  <a:srgbClr val="EDF2F8"/>
                </a:solidFill>
                <a:latin typeface="Consolas" panose="020B0609020204030204" pitchFamily="49" charset="0"/>
              </a:rPr>
              <a:t>alignhcm-brand-system</a:t>
            </a:r>
            <a:endParaRPr sz="1250" b="0" i="0">
              <a:solidFill>
                <a:srgbClr val="EDF2F8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5563"/>
                </a:solidFill>
                <a:latin typeface="Calibri"/>
              </a:rPr>
              <a:t>alignhcm.com</a:t>
            </a:r>
          </a:p>
        </p:txBody>
      </p:sp>
      <p:sp>
        <p:nvSpPr>
          <p:cNvPr id="28" name="FooterMid"/>
          <p:cNvSpPr txBox="1"/>
          <p:nvPr/>
        </p:nvSpPr>
        <p:spPr>
          <a:xfrm>
            <a:off x="4724384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0" i="0">
                <a:solidFill>
                  <a:srgbClr val="4A5563"/>
                </a:solidFill>
                <a:latin typeface="Calibri"/>
              </a:rPr>
              <a:t>Copyright 2026 AlignHCM  |  Confidential</a:t>
            </a:r>
            <a:endParaRPr sz="900" b="0" i="0">
              <a:solidFill>
                <a:srgbClr val="4A5563"/>
              </a:solidFill>
              <a:latin typeface="Calibri"/>
            </a:endParaRPr>
          </a:p>
        </p:txBody>
      </p:sp>
      <p:sp>
        <p:nvSpPr>
          <p:cNvPr id="29" name="FooterRight"/>
          <p:cNvSpPr txBox="1"/>
          <p:nvPr/>
        </p:nvSpPr>
        <p:spPr>
          <a:xfrm>
            <a:off x="8762969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i="0">
                <a:solidFill>
                  <a:srgbClr val="4A5563"/>
                </a:solidFill>
                <a:latin typeface="Calibri"/>
              </a:rPr>
              <a:t>Align HCM   |   03</a:t>
            </a:r>
            <a:endParaRPr sz="900" b="0" i="0">
              <a:solidFill>
                <a:srgbClr val="4A556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02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i="0" spc="140">
                <a:solidFill>
                  <a:srgbClr val="E97722"/>
                </a:solidFill>
                <a:latin typeface="Calibri"/>
              </a:rPr>
              <a:t>USE IN CLAUDE CODE</a:t>
            </a:r>
            <a:endParaRPr sz="1050" b="1" i="0" spc="140">
              <a:solidFill>
                <a:srgbClr val="E97722"/>
              </a:solidFill>
              <a:latin typeface="Calibri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4924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3200" b="1" i="0">
                <a:solidFill>
                  <a:srgbClr val="FFFFFF"/>
                </a:solidFill>
                <a:latin typeface="Cambria"/>
              </a:rPr>
              <a:t>Invoke the Skill Directly</a:t>
            </a:r>
            <a:endParaRPr sz="3200" b="1" i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0" i="0">
                <a:solidFill>
                  <a:srgbClr val="EDF2F8"/>
                </a:solidFill>
                <a:latin typeface="Calibri"/>
              </a:rPr>
              <a:t>Add the job after the command. Attach the current brief, approved source material, and client logo when available.</a:t>
            </a:r>
            <a:endParaRPr sz="1700" b="0" i="0">
              <a:solidFill>
                <a:srgbClr val="EDF2F8"/>
              </a:solidFill>
              <a:latin typeface="Calibri"/>
            </a:endParaRPr>
          </a:p>
        </p:txBody>
      </p:sp>
      <p:sp>
        <p:nvSpPr>
          <p:cNvPr id="7" name="PriceCard"/>
          <p:cNvSpPr/>
          <p:nvPr/>
        </p:nvSpPr>
        <p:spPr>
          <a:xfrm>
            <a:off x="685800" y="2249424"/>
            <a:ext cx="4754880" cy="2157984"/>
          </a:xfrm>
          <a:prstGeom prst="roundRect">
            <a:avLst>
              <a:gd name="adj" fmla="val 5508"/>
            </a:avLst>
          </a:prstGeom>
          <a:solidFill>
            <a:srgbClr val="1D2735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206240" cy="738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400" b="1" i="0">
                <a:solidFill>
                  <a:srgbClr val="FFFFFF"/>
                </a:solidFill>
                <a:latin typeface="Consolas" panose="020B0609020204030204" pitchFamily="49" charset="0"/>
              </a:rPr>
              <a:t>/alignhcm-brand-system:</a:t>
            </a:r>
          </a:p>
          <a:p>
            <a:pPr algn="ctr"/>
            <a:r>
              <a:rPr lang="en-US" sz="2400" b="1" i="0">
                <a:solidFill>
                  <a:srgbClr val="FFFFFF"/>
                </a:solidFill>
                <a:latin typeface="Consolas" panose="020B0609020204030204" pitchFamily="49" charset="0"/>
              </a:rPr>
              <a:t>alignhcm-brand-system</a:t>
            </a:r>
            <a:endParaRPr sz="2400" b="1" i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1400" b="1" i="0">
                <a:solidFill>
                  <a:srgbClr val="E97722"/>
                </a:solidFill>
                <a:latin typeface="Calibri"/>
              </a:rPr>
              <a:t>The direct Claude Code command</a:t>
            </a:r>
            <a:endParaRPr sz="1400" b="1" i="0">
              <a:solidFill>
                <a:srgbClr val="E9772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3895344"/>
            <a:ext cx="3749039" cy="38683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8000"/>
              </a:lnSpc>
            </a:pPr>
            <a:r>
              <a:rPr lang="en-US" sz="1100" b="0" i="0">
                <a:solidFill>
                  <a:srgbClr val="EDF2F8"/>
                </a:solidFill>
                <a:latin typeface="Calibri"/>
              </a:rPr>
              <a:t>Example: Create an Align HCM proposal deck for Northwind using the attached brief and verified logo. Return PPTX and PDF.</a:t>
            </a:r>
            <a:endParaRPr sz="1100" b="0" i="0">
              <a:solidFill>
                <a:srgbClr val="EDF2F8"/>
              </a:solidFill>
              <a:latin typeface="Calibri"/>
            </a:endParaRPr>
          </a:p>
        </p:txBody>
      </p:sp>
      <p:sp>
        <p:nvSpPr>
          <p:cNvPr id="11" name="EarlyGoLiveCard"/>
          <p:cNvSpPr/>
          <p:nvPr/>
        </p:nvSpPr>
        <p:spPr>
          <a:xfrm>
            <a:off x="5751576" y="2249424"/>
            <a:ext cx="5754593" cy="2157984"/>
          </a:xfrm>
          <a:prstGeom prst="roundRect">
            <a:avLst>
              <a:gd name="adj" fmla="val 5508"/>
            </a:avLst>
          </a:prstGeom>
          <a:solidFill>
            <a:srgbClr val="1D2735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062472" y="2560320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-arrow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59" y="2692908"/>
            <a:ext cx="265176" cy="265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39128" y="2633472"/>
            <a:ext cx="4456145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Claude can also load it automatically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2472" y="3218688"/>
            <a:ext cx="5132801" cy="7542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US" sz="1350" b="0" i="0">
                <a:solidFill>
                  <a:srgbClr val="EDF2F8"/>
                </a:solidFill>
                <a:latin typeface="Calibri"/>
              </a:rPr>
              <a:t>Ask for an Align HCM or SmartCare deck, proposal, report, one-pager, HubSpot page, social graphic, carousel, video, or brand review. Direct invocation is best when brand fidelity is critical.</a:t>
            </a:r>
            <a:endParaRPr sz="1350" b="0" i="0">
              <a:solidFill>
                <a:srgbClr val="EDF2F8"/>
              </a:solidFill>
              <a:latin typeface="Calibri"/>
            </a:endParaRPr>
          </a:p>
        </p:txBody>
      </p:sp>
      <p:sp>
        <p:nvSpPr>
          <p:cNvPr id="16" name="ScopeCard"/>
          <p:cNvSpPr/>
          <p:nvPr/>
        </p:nvSpPr>
        <p:spPr>
          <a:xfrm>
            <a:off x="685800" y="4718304"/>
            <a:ext cx="10820369" cy="1188720"/>
          </a:xfrm>
          <a:prstGeom prst="roundRect">
            <a:avLst>
              <a:gd name="adj" fmla="val 10000"/>
            </a:avLst>
          </a:prstGeom>
          <a:solidFill>
            <a:srgbClr val="1D2735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6696" y="5047488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5180076"/>
            <a:ext cx="265176" cy="265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3352" y="4937760"/>
            <a:ext cx="952192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600" b="1" i="0">
                <a:solidFill>
                  <a:srgbClr val="FFFFFF"/>
                </a:solidFill>
                <a:latin typeface="Calibri"/>
              </a:rPr>
              <a:t>Always provide current source material</a:t>
            </a:r>
            <a:endParaRPr sz="1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55064" y="5303520"/>
            <a:ext cx="9540209" cy="4893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/>
              </a:rPr>
              <a:t>Claude will not guess the client, reuse sample pricing, redraw a logo, or carry old engagement facts forward. If identity, provenance, or approved copy is ambiguous, the skill stops before production.</a:t>
            </a:r>
            <a:endParaRPr sz="1350" b="0" i="0">
              <a:solidFill>
                <a:srgbClr val="EDF2F8"/>
              </a:solidFill>
              <a:latin typeface="Calibri"/>
            </a:endParaRPr>
          </a:p>
        </p:txBody>
      </p:sp>
      <p:sp>
        <p:nvSpPr>
          <p:cNvPr id="21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7D2DF"/>
                </a:solidFill>
                <a:latin typeface="Calibri"/>
              </a:rPr>
              <a:t>alignhcm.com</a:t>
            </a:r>
          </a:p>
        </p:txBody>
      </p:sp>
      <p:sp>
        <p:nvSpPr>
          <p:cNvPr id="22" name="FooterMid"/>
          <p:cNvSpPr txBox="1"/>
          <p:nvPr/>
        </p:nvSpPr>
        <p:spPr>
          <a:xfrm>
            <a:off x="4724384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0" i="0">
                <a:solidFill>
                  <a:srgbClr val="C7D2DF"/>
                </a:solidFill>
                <a:latin typeface="Calibri"/>
              </a:rPr>
              <a:t>Copyright 2026 AlignHCM  |  Confidential</a:t>
            </a:r>
            <a:endParaRPr sz="900" b="0" i="0">
              <a:solidFill>
                <a:srgbClr val="C7D2DF"/>
              </a:solidFill>
              <a:latin typeface="Calibri"/>
            </a:endParaRPr>
          </a:p>
        </p:txBody>
      </p:sp>
      <p:sp>
        <p:nvSpPr>
          <p:cNvPr id="23" name="FooterRight"/>
          <p:cNvSpPr txBox="1"/>
          <p:nvPr/>
        </p:nvSpPr>
        <p:spPr>
          <a:xfrm>
            <a:off x="8762969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i="0">
                <a:solidFill>
                  <a:srgbClr val="C7D2DF"/>
                </a:solidFill>
                <a:latin typeface="Calibri"/>
              </a:rPr>
              <a:t>Align HCM   |   04</a:t>
            </a:r>
            <a:endParaRPr sz="900" b="0" i="0">
              <a:solidFill>
                <a:srgbClr val="C7D2D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i="0" spc="140">
                <a:solidFill>
                  <a:srgbClr val="B05512"/>
                </a:solidFill>
                <a:latin typeface="Calibri"/>
              </a:rPr>
              <a:t>WHAT TO EXPECT</a:t>
            </a:r>
            <a:endParaRPr sz="1050" b="1" i="0" spc="140">
              <a:solidFill>
                <a:srgbClr val="B05512"/>
              </a:solidFill>
              <a:latin typeface="Calibri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4924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3200" b="1" i="0">
                <a:solidFill>
                  <a:srgbClr val="232E3E"/>
                </a:solidFill>
                <a:latin typeface="Cambria"/>
              </a:rPr>
              <a:t>Claude's Delivery Gate</a:t>
            </a:r>
            <a:endParaRPr sz="3200" b="1" i="0">
              <a:solidFill>
                <a:srgbClr val="232E3E"/>
              </a:solidFill>
              <a:latin typeface="Cambria"/>
            </a:endParaRP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0" i="0">
                <a:solidFill>
                  <a:srgbClr val="2B3849"/>
                </a:solidFill>
                <a:latin typeface="Calibri"/>
              </a:rPr>
              <a:t>A valid invocation produces reviewable work, not a generic template or an unverified brand approximation.</a:t>
            </a:r>
            <a:endParaRPr sz="1700" b="0" i="0">
              <a:solidFill>
                <a:srgbClr val="2B3849"/>
              </a:solidFill>
              <a:latin typeface="Calibri"/>
            </a:endParaRPr>
          </a:p>
        </p:txBody>
      </p:sp>
      <p:sp>
        <p:nvSpPr>
          <p:cNvPr id="7" name="ExecCard1"/>
          <p:cNvSpPr/>
          <p:nvPr/>
        </p:nvSpPr>
        <p:spPr>
          <a:xfrm>
            <a:off x="685800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983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2583179"/>
            <a:ext cx="265176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28216" y="2569463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1  Resolve the assignment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4983" y="3090672"/>
            <a:ext cx="4596368" cy="7427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Claude states the client, engagement, audience, output surface, date, and source evidence before production.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ExecCard2"/>
          <p:cNvSpPr/>
          <p:nvPr/>
        </p:nvSpPr>
        <p:spPr>
          <a:xfrm>
            <a:off x="6251432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80616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-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04" y="2583179"/>
            <a:ext cx="265176" cy="265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93848" y="2569463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2  Use approved assets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0616" y="3090672"/>
            <a:ext cx="4596368" cy="7427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The exact Align artwork stays unchanged. Client logos come from an attached approved asset, canonical project folder, official brand kit, or official website.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ExecCard3"/>
          <p:cNvSpPr/>
          <p:nvPr/>
        </p:nvSpPr>
        <p:spPr>
          <a:xfrm>
            <a:off x="685800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4983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4668011"/>
            <a:ext cx="265176" cy="265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28216" y="4654295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3  Build in the right system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4983" y="5175503"/>
            <a:ext cx="4596368" cy="4893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Decks clone designed slides. Other surfaces use their own approved palette, typography, layout, imagery, and copy rules.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ExecCard4"/>
          <p:cNvSpPr/>
          <p:nvPr/>
        </p:nvSpPr>
        <p:spPr>
          <a:xfrm>
            <a:off x="6251432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80616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n-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204" y="4668011"/>
            <a:ext cx="265176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93848" y="4654295"/>
            <a:ext cx="3883136" cy="2616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700" b="1" i="0">
                <a:solidFill>
                  <a:srgbClr val="FFFFFF"/>
                </a:solidFill>
                <a:latin typeface="Calibri"/>
              </a:rPr>
              <a:t>4  Validate the final file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0616" y="5175502"/>
            <a:ext cx="4596368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US" sz="1350" b="0" i="0">
                <a:solidFill>
                  <a:srgbClr val="EDF2F8"/>
                </a:solidFill>
                <a:latin typeface="Calibri" panose="020F0502020204030204" pitchFamily="34" charset="0"/>
              </a:rPr>
              <a:t>Claude runs the surface linter, checks the editable source, renders the output, and reviews logo fidelity, contrast, overflow, and sample residue.</a:t>
            </a:r>
            <a:endParaRPr sz="1350" b="0" i="0">
              <a:solidFill>
                <a:srgbClr val="EDF2F8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5563"/>
                </a:solidFill>
                <a:latin typeface="Calibri"/>
              </a:rPr>
              <a:t>alignhcm.com</a:t>
            </a:r>
          </a:p>
        </p:txBody>
      </p:sp>
      <p:sp>
        <p:nvSpPr>
          <p:cNvPr id="28" name="FooterMid"/>
          <p:cNvSpPr txBox="1"/>
          <p:nvPr/>
        </p:nvSpPr>
        <p:spPr>
          <a:xfrm>
            <a:off x="4724384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0" i="0">
                <a:solidFill>
                  <a:srgbClr val="4A5563"/>
                </a:solidFill>
                <a:latin typeface="Calibri"/>
              </a:rPr>
              <a:t>Copyright 2026 AlignHCM  |  Confidential</a:t>
            </a:r>
            <a:endParaRPr sz="900" b="0" i="0">
              <a:solidFill>
                <a:srgbClr val="4A5563"/>
              </a:solidFill>
              <a:latin typeface="Calibri"/>
            </a:endParaRPr>
          </a:p>
        </p:txBody>
      </p:sp>
      <p:sp>
        <p:nvSpPr>
          <p:cNvPr id="29" name="FooterRight"/>
          <p:cNvSpPr txBox="1"/>
          <p:nvPr/>
        </p:nvSpPr>
        <p:spPr>
          <a:xfrm>
            <a:off x="8762969" y="6510528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i="0">
                <a:solidFill>
                  <a:srgbClr val="4A5563"/>
                </a:solidFill>
                <a:latin typeface="Calibri"/>
              </a:rPr>
              <a:t>Align HCM   |   05</a:t>
            </a:r>
            <a:endParaRPr sz="900" b="0" i="0">
              <a:solidFill>
                <a:srgbClr val="4A556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963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Panel"/>
          <p:cNvSpPr/>
          <p:nvPr/>
        </p:nvSpPr>
        <p:spPr>
          <a:xfrm>
            <a:off x="4206240" y="0"/>
            <a:ext cx="798572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nelDivider"/>
          <p:cNvSpPr/>
          <p:nvPr/>
        </p:nvSpPr>
        <p:spPr>
          <a:xfrm>
            <a:off x="4178808" y="0"/>
            <a:ext cx="32004" cy="6858000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AlignHCM_Logo" descr="align-hc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2651760" cy="1229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2040" y="1920240"/>
            <a:ext cx="6309360" cy="1769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150" b="1" i="0" spc="180">
                <a:solidFill>
                  <a:srgbClr val="E97722"/>
                </a:solidFill>
                <a:latin typeface="Calibri"/>
              </a:rPr>
              <a:t>READY TO USE</a:t>
            </a:r>
            <a:endParaRPr sz="1150" b="1" i="0" spc="180">
              <a:solidFill>
                <a:srgbClr val="E9772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92040" y="2249424"/>
            <a:ext cx="6309360" cy="4616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3000" b="1" i="0">
                <a:solidFill>
                  <a:srgbClr val="FFFFFF"/>
                </a:solidFill>
                <a:latin typeface="Cambria"/>
              </a:rPr>
              <a:t>Start with a clear brief.</a:t>
            </a:r>
            <a:endParaRPr sz="3000" b="1" i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92040" y="32186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92040" y="3511296"/>
            <a:ext cx="603504" cy="603504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-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16" y="3662172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3502152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400" b="1" i="0">
                <a:solidFill>
                  <a:srgbClr val="FFFFFF"/>
                </a:solidFill>
                <a:latin typeface="Consolas" panose="020B0609020204030204" pitchFamily="49" charset="0"/>
              </a:rPr>
              <a:t>/alignhcm-brand-system:alignhcm-brand-system</a:t>
            </a:r>
            <a:endParaRPr sz="1400" b="1" i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20" y="3867911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300" b="0" i="0">
                <a:solidFill>
                  <a:srgbClr val="C7D2DF"/>
                </a:solidFill>
                <a:latin typeface="Calibri"/>
              </a:rPr>
              <a:t>Invoke the approved Claude skill</a:t>
            </a:r>
            <a:endParaRPr sz="1300" b="0" i="0">
              <a:solidFill>
                <a:srgbClr val="C7D2DF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892040" y="4407408"/>
            <a:ext cx="603504" cy="603504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-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4558284"/>
            <a:ext cx="301752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720" y="4535424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300" b="0" i="0">
                <a:solidFill>
                  <a:srgbClr val="FFFFFF"/>
                </a:solidFill>
                <a:latin typeface="Calibri"/>
              </a:rPr>
              <a:t>github.com/dillonmohr8777/claude-skills-repo/pull/22</a:t>
            </a:r>
            <a:endParaRPr sz="13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92040" y="5303520"/>
            <a:ext cx="603504" cy="603504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916" y="5454396"/>
            <a:ext cx="301752" cy="3017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60720" y="5431536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300" b="0" i="0">
                <a:solidFill>
                  <a:srgbClr val="FFFFFF"/>
                </a:solidFill>
                <a:latin typeface="Calibri"/>
              </a:rPr>
              <a:t>Attach the brief, source material, and verified client logo</a:t>
            </a:r>
            <a:endParaRPr sz="1300" b="0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2040" y="6510528"/>
            <a:ext cx="3657600" cy="1384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900" b="0" i="0">
                <a:solidFill>
                  <a:srgbClr val="C7D2DF"/>
                </a:solidFill>
                <a:latin typeface="Calibri"/>
              </a:rPr>
              <a:t>alignhcm.com</a:t>
            </a:r>
            <a:endParaRPr sz="900" b="0" i="0">
              <a:solidFill>
                <a:srgbClr val="C7D2D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48569" y="6510528"/>
            <a:ext cx="3657600" cy="1384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sz="900" b="0" i="0">
                <a:solidFill>
                  <a:srgbClr val="C7D2DF"/>
                </a:solidFill>
                <a:latin typeface="Calibri"/>
              </a:rPr>
              <a:t>Copyright 2026 AlignHCM  |  Confidential  |  06</a:t>
            </a:r>
            <a:endParaRPr sz="900" b="0" i="0">
              <a:solidFill>
                <a:srgbClr val="C7D2D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636</Words>
  <Application>Microsoft Office PowerPoint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Dillon Mohr</cp:lastModifiedBy>
  <cp:revision>2</cp:revision>
  <dcterms:created xsi:type="dcterms:W3CDTF">2013-01-27T09:14:16Z</dcterms:created>
  <dcterms:modified xsi:type="dcterms:W3CDTF">2026-08-13T15:38:04Z</dcterms:modified>
  <cp:category/>
</cp:coreProperties>
</file>